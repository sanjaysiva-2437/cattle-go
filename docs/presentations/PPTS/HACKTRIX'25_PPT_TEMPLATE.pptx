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Arimo Bold" charset="1" panose="020B0704020202020204"/>
      <p:regular r:id="rId18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embeddings/oleObject2.bin" Type="http://schemas.openxmlformats.org/officeDocument/2006/relationships/oleObject"/><Relationship Id="rId8" Target="../media/image13.png" Type="http://schemas.openxmlformats.org/officeDocument/2006/relationships/image"/><Relationship Id="rId9" Target="../embeddings/oleObject3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hisar.gov.in/cirb/" TargetMode="External" Type="http://schemas.openxmlformats.org/officeDocument/2006/relationships/hyperlink"/><Relationship Id="rId11" Target="https://nivedi.res.in/Nadres_v2/pdf/covid/BUFFALO%20%26%20CATTLE%20BREEDS.pdf%E2%80%99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9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http://www.agritech.tnau.ac.in/expert_system/cattlebuffalo/Breeds%20of%20cattle%20&amp;%20baffalo.html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70" y="1277282"/>
            <a:ext cx="6957907" cy="7732451"/>
          </a:xfrm>
          <a:custGeom>
            <a:avLst/>
            <a:gdLst/>
            <a:ahLst/>
            <a:cxnLst/>
            <a:rect r="r" b="b" t="t" l="l"/>
            <a:pathLst>
              <a:path h="7732451" w="6957907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786782"/>
            <a:ext cx="15544800" cy="3114675"/>
            <a:chOff x="0" y="0"/>
            <a:chExt cx="20726400" cy="4152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HACKTRIX’25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8535" y="2645960"/>
            <a:ext cx="16670931" cy="613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84"/>
              </a:lnSpc>
            </a:pPr>
          </a:p>
          <a:p>
            <a:pPr algn="just" marL="651510" indent="-325755" lvl="1">
              <a:lnSpc>
                <a:spcPts val="698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Based breed recognition and animal classification</a:t>
            </a:r>
          </a:p>
          <a:p>
            <a:pPr algn="just" marL="651510" indent="-325755" lvl="1">
              <a:lnSpc>
                <a:spcPts val="698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AI to Identify cattle and buffalo breeds and classify their body types from images</a:t>
            </a:r>
          </a:p>
          <a:p>
            <a:pPr algn="just" marL="651510" indent="-325755" lvl="1">
              <a:lnSpc>
                <a:spcPts val="698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651510" indent="-325755" lvl="1">
              <a:lnSpc>
                <a:spcPts val="698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Verisimilar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175407" y="-900335"/>
            <a:ext cx="3112593" cy="1800670"/>
            <a:chOff x="0" y="0"/>
            <a:chExt cx="4150124" cy="2400894"/>
          </a:xfrm>
        </p:grpSpPr>
        <p:sp>
          <p:nvSpPr>
            <p:cNvPr name="Freeform 8" id="8" descr="SRM Institute of Science and Technology"/>
            <p:cNvSpPr/>
            <p:nvPr/>
          </p:nvSpPr>
          <p:spPr>
            <a:xfrm flipH="false" flipV="false" rot="0">
              <a:off x="0" y="0"/>
              <a:ext cx="4150106" cy="2400935"/>
            </a:xfrm>
            <a:custGeom>
              <a:avLst/>
              <a:gdLst/>
              <a:ahLst/>
              <a:cxnLst/>
              <a:rect r="r" b="b" t="t" l="l"/>
              <a:pathLst>
                <a:path h="2400935" w="4150106">
                  <a:moveTo>
                    <a:pt x="0" y="0"/>
                  </a:moveTo>
                  <a:lnTo>
                    <a:pt x="4150106" y="0"/>
                  </a:lnTo>
                  <a:lnTo>
                    <a:pt x="4150106" y="2400935"/>
                  </a:lnTo>
                  <a:lnTo>
                    <a:pt x="0" y="24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285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2344119" cy="2344119"/>
          </a:xfrm>
          <a:custGeom>
            <a:avLst/>
            <a:gdLst/>
            <a:ahLst/>
            <a:cxnLst/>
            <a:rect r="r" b="b" t="t" l="l"/>
            <a:pathLst>
              <a:path h="2344119" w="2344119">
                <a:moveTo>
                  <a:pt x="0" y="0"/>
                </a:moveTo>
                <a:lnTo>
                  <a:pt x="2344119" y="0"/>
                </a:lnTo>
                <a:lnTo>
                  <a:pt x="2344119" y="2344119"/>
                </a:lnTo>
                <a:lnTo>
                  <a:pt x="0" y="2344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7998" cy="547688"/>
            <a:chOff x="0" y="0"/>
            <a:chExt cx="24383998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49"/>
            </a:xfrm>
            <a:custGeom>
              <a:avLst/>
              <a:gdLst/>
              <a:ahLst/>
              <a:cxnLst/>
              <a:rect r="r" b="b" t="t" l="l"/>
              <a:pathLst>
                <a:path h="73024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49"/>
                  </a:lnTo>
                  <a:lnTo>
                    <a:pt x="0" y="73024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03773" y="-771970"/>
            <a:ext cx="11280453" cy="2386208"/>
            <a:chOff x="0" y="0"/>
            <a:chExt cx="15040604" cy="31816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40604" cy="3181611"/>
            </a:xfrm>
            <a:custGeom>
              <a:avLst/>
              <a:gdLst/>
              <a:ahLst/>
              <a:cxnLst/>
              <a:rect r="r" b="b" t="t" l="l"/>
              <a:pathLst>
                <a:path h="3181611" w="15040604">
                  <a:moveTo>
                    <a:pt x="0" y="0"/>
                  </a:moveTo>
                  <a:lnTo>
                    <a:pt x="15040604" y="0"/>
                  </a:lnTo>
                  <a:lnTo>
                    <a:pt x="15040604" y="3181611"/>
                  </a:lnTo>
                  <a:lnTo>
                    <a:pt x="0" y="3181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5040604" cy="3210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59"/>
                </a:lnSpc>
              </a:pPr>
            </a:p>
            <a:p>
              <a:pPr algn="ctr">
                <a:lnSpc>
                  <a:spcPts val="4920"/>
                </a:lnSpc>
              </a:pPr>
              <a:r>
                <a:rPr lang="en-US" b="true" sz="41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AUTOMATED LIVESTOCK EVALUATION AND BREEDING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177400" y="-771971"/>
            <a:ext cx="3112593" cy="1800670"/>
            <a:chOff x="0" y="0"/>
            <a:chExt cx="4150124" cy="2400894"/>
          </a:xfrm>
        </p:grpSpPr>
        <p:sp>
          <p:nvSpPr>
            <p:cNvPr name="Freeform 11" id="11" descr="SRM Institute of Science and Technology"/>
            <p:cNvSpPr/>
            <p:nvPr/>
          </p:nvSpPr>
          <p:spPr>
            <a:xfrm flipH="false" flipV="false" rot="0">
              <a:off x="0" y="0"/>
              <a:ext cx="4150106" cy="2400935"/>
            </a:xfrm>
            <a:custGeom>
              <a:avLst/>
              <a:gdLst/>
              <a:ahLst/>
              <a:cxnLst/>
              <a:rect r="r" b="b" t="t" l="l"/>
              <a:pathLst>
                <a:path h="2400935" w="4150106">
                  <a:moveTo>
                    <a:pt x="0" y="0"/>
                  </a:moveTo>
                  <a:lnTo>
                    <a:pt x="4150106" y="0"/>
                  </a:lnTo>
                  <a:lnTo>
                    <a:pt x="4150106" y="2400935"/>
                  </a:lnTo>
                  <a:lnTo>
                    <a:pt x="0" y="24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285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-118826"/>
            <a:ext cx="2177810" cy="2177810"/>
          </a:xfrm>
          <a:custGeom>
            <a:avLst/>
            <a:gdLst/>
            <a:ahLst/>
            <a:cxnLst/>
            <a:rect r="r" b="b" t="t" l="l"/>
            <a:pathLst>
              <a:path h="2177810" w="2177810">
                <a:moveTo>
                  <a:pt x="0" y="0"/>
                </a:moveTo>
                <a:lnTo>
                  <a:pt x="2177810" y="0"/>
                </a:lnTo>
                <a:lnTo>
                  <a:pt x="2177810" y="2177810"/>
                </a:lnTo>
                <a:lnTo>
                  <a:pt x="0" y="2177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83980" y="3019244"/>
            <a:ext cx="9189620" cy="4729524"/>
          </a:xfrm>
          <a:custGeom>
            <a:avLst/>
            <a:gdLst/>
            <a:ahLst/>
            <a:cxnLst/>
            <a:rect r="r" b="b" t="t" l="l"/>
            <a:pathLst>
              <a:path h="4729524" w="9189620">
                <a:moveTo>
                  <a:pt x="0" y="0"/>
                </a:moveTo>
                <a:lnTo>
                  <a:pt x="9189620" y="0"/>
                </a:lnTo>
                <a:lnTo>
                  <a:pt x="9189620" y="4729524"/>
                </a:lnTo>
                <a:lnTo>
                  <a:pt x="0" y="4729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97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1734841"/>
            <a:ext cx="7626498" cy="841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b="true" sz="459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>
              <a:lnSpc>
                <a:spcPts val="5508"/>
              </a:lnSpc>
            </a:pPr>
          </a:p>
          <a:p>
            <a:pPr algn="just" marL="702048" indent="-351024" lvl="1">
              <a:lnSpc>
                <a:spcPts val="3902"/>
              </a:lnSpc>
              <a:buFont typeface="Arial"/>
              <a:buChar char="•"/>
            </a:pPr>
            <a:r>
              <a:rPr lang="en-US" sz="32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AI-based system that uses images to automatically identify the breed of cattle and buffaloes and classify their body traits.</a:t>
            </a:r>
          </a:p>
          <a:p>
            <a:pPr algn="just">
              <a:lnSpc>
                <a:spcPts val="3902"/>
              </a:lnSpc>
            </a:pPr>
          </a:p>
          <a:p>
            <a:pPr algn="just" marL="702048" indent="-351024" lvl="1">
              <a:lnSpc>
                <a:spcPts val="3902"/>
              </a:lnSpc>
              <a:buFont typeface="Arial"/>
              <a:buChar char="•"/>
            </a:pPr>
            <a:r>
              <a:rPr lang="en-US" sz="32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minimizes manual err</a:t>
            </a:r>
            <a:r>
              <a:rPr lang="en-US" sz="32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ors, ensures consistent and reliable data, and supports better decision-making in livestock programs.</a:t>
            </a:r>
          </a:p>
          <a:p>
            <a:pPr algn="just">
              <a:lnSpc>
                <a:spcPts val="3902"/>
              </a:lnSpc>
            </a:pPr>
          </a:p>
          <a:p>
            <a:pPr algn="just" marL="702048" indent="-351024" lvl="1">
              <a:lnSpc>
                <a:spcPts val="3902"/>
              </a:lnSpc>
              <a:buFont typeface="Arial"/>
              <a:buChar char="•"/>
            </a:pPr>
            <a:r>
              <a:rPr lang="en-US" sz="325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breed recognition and body type classification in a single, mobile-friendly tool.</a:t>
            </a:r>
          </a:p>
          <a:p>
            <a:pPr algn="just">
              <a:lnSpc>
                <a:spcPts val="4820"/>
              </a:lnSpc>
            </a:pPr>
            <a:r>
              <a:rPr lang="en-US" sz="401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21140" y="7893702"/>
            <a:ext cx="853816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92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Accuracy (%) of recognizing different cattle breeds using an AI-based breed recognition system.</a:t>
            </a:r>
          </a:p>
          <a:p>
            <a:pPr algn="ctr">
              <a:lnSpc>
                <a:spcPts val="2313"/>
              </a:lnSpc>
            </a:pPr>
          </a:p>
          <a:p>
            <a:pPr algn="ctr">
              <a:lnSpc>
                <a:spcPts val="2313"/>
              </a:lnSpc>
              <a:spcBef>
                <a:spcPct val="0"/>
              </a:spcBef>
            </a:pPr>
            <a:r>
              <a:rPr lang="en-US" b="true" sz="192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Done using labelImg and Jtheta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977224"/>
            <a:ext cx="18287998" cy="309776"/>
            <a:chOff x="0" y="0"/>
            <a:chExt cx="24383998" cy="413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13034"/>
            </a:xfrm>
            <a:custGeom>
              <a:avLst/>
              <a:gdLst/>
              <a:ahLst/>
              <a:cxnLst/>
              <a:rect r="r" b="b" t="t" l="l"/>
              <a:pathLst>
                <a:path h="41303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13034"/>
                  </a:lnTo>
                  <a:lnTo>
                    <a:pt x="0" y="413034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8990" y="-331676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63877" y="9858268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183275" y="-898059"/>
            <a:ext cx="3104725" cy="1796119"/>
            <a:chOff x="0" y="0"/>
            <a:chExt cx="4150124" cy="2400894"/>
          </a:xfrm>
        </p:grpSpPr>
        <p:sp>
          <p:nvSpPr>
            <p:cNvPr name="Freeform 11" id="11" descr="SRM Institute of Science and Technology"/>
            <p:cNvSpPr/>
            <p:nvPr/>
          </p:nvSpPr>
          <p:spPr>
            <a:xfrm flipH="false" flipV="false" rot="0">
              <a:off x="0" y="0"/>
              <a:ext cx="4150106" cy="2400935"/>
            </a:xfrm>
            <a:custGeom>
              <a:avLst/>
              <a:gdLst/>
              <a:ahLst/>
              <a:cxnLst/>
              <a:rect r="r" b="b" t="t" l="l"/>
              <a:pathLst>
                <a:path h="2400935" w="4150106">
                  <a:moveTo>
                    <a:pt x="0" y="0"/>
                  </a:moveTo>
                  <a:lnTo>
                    <a:pt x="4150106" y="0"/>
                  </a:lnTo>
                  <a:lnTo>
                    <a:pt x="4150106" y="2400935"/>
                  </a:lnTo>
                  <a:lnTo>
                    <a:pt x="0" y="24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285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986361" y="1216361"/>
            <a:ext cx="8999409" cy="8711528"/>
          </a:xfrm>
          <a:custGeom>
            <a:avLst/>
            <a:gdLst/>
            <a:ahLst/>
            <a:cxnLst/>
            <a:rect r="r" b="b" t="t" l="l"/>
            <a:pathLst>
              <a:path h="8711528" w="8999409">
                <a:moveTo>
                  <a:pt x="0" y="0"/>
                </a:moveTo>
                <a:lnTo>
                  <a:pt x="8999409" y="0"/>
                </a:lnTo>
                <a:lnTo>
                  <a:pt x="8999409" y="8711528"/>
                </a:lnTo>
                <a:lnTo>
                  <a:pt x="0" y="871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43675" y="-94314"/>
            <a:ext cx="2144750" cy="1984747"/>
          </a:xfrm>
          <a:custGeom>
            <a:avLst/>
            <a:gdLst/>
            <a:ahLst/>
            <a:cxnLst/>
            <a:rect r="r" b="b" t="t" l="l"/>
            <a:pathLst>
              <a:path h="1984747" w="2144750">
                <a:moveTo>
                  <a:pt x="0" y="0"/>
                </a:moveTo>
                <a:lnTo>
                  <a:pt x="2144750" y="0"/>
                </a:lnTo>
                <a:lnTo>
                  <a:pt x="2144750" y="1984747"/>
                </a:lnTo>
                <a:lnTo>
                  <a:pt x="0" y="1984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030" r="0" b="-403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9525" y="1866900"/>
            <a:ext cx="7599820" cy="739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557" indent="-291778" lvl="1">
              <a:lnSpc>
                <a:spcPts val="3243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Programming Languages: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Python, Dart (Flutter)</a:t>
            </a:r>
          </a:p>
          <a:p>
            <a:pPr algn="l">
              <a:lnSpc>
                <a:spcPts val="3243"/>
              </a:lnSpc>
            </a:pPr>
          </a:p>
          <a:p>
            <a:pPr algn="l" marL="583557" indent="-291778" lvl="1">
              <a:lnSpc>
                <a:spcPts val="3243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Frameworks &amp; Libraries: 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TensorFlow, PyTorch, OpenCV, Scikit-learn, XGBoost, SeaBorn, Matplotlib, Google Colab</a:t>
            </a:r>
          </a:p>
          <a:p>
            <a:pPr algn="l">
              <a:lnSpc>
                <a:spcPts val="3243"/>
              </a:lnSpc>
            </a:pPr>
          </a:p>
          <a:p>
            <a:pPr algn="l" marL="583557" indent="-291778" lvl="1">
              <a:lnSpc>
                <a:spcPts val="3243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Flask (FastAPI)</a:t>
            </a:r>
          </a:p>
          <a:p>
            <a:pPr algn="l">
              <a:lnSpc>
                <a:spcPts val="3243"/>
              </a:lnSpc>
            </a:pPr>
          </a:p>
          <a:p>
            <a:pPr algn="l" marL="583557" indent="-291778" lvl="1">
              <a:lnSpc>
                <a:spcPts val="3243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Frontend: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Flutter</a:t>
            </a:r>
          </a:p>
          <a:p>
            <a:pPr algn="l">
              <a:lnSpc>
                <a:spcPts val="3243"/>
              </a:lnSpc>
            </a:pPr>
          </a:p>
          <a:p>
            <a:pPr algn="l" marL="583557" indent="-291778" lvl="1">
              <a:lnSpc>
                <a:spcPts val="3243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Database: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PostgreSQL, MySQL</a:t>
            </a:r>
          </a:p>
          <a:p>
            <a:pPr algn="l">
              <a:lnSpc>
                <a:spcPts val="3243"/>
              </a:lnSpc>
            </a:pPr>
          </a:p>
          <a:p>
            <a:pPr algn="l" marL="583557" indent="-291778" lvl="1">
              <a:lnSpc>
                <a:spcPts val="3243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Hardware: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Smartphones, Laptop/PC with GPU</a:t>
            </a:r>
          </a:p>
          <a:p>
            <a:pPr algn="l">
              <a:lnSpc>
                <a:spcPts val="3243"/>
              </a:lnSpc>
            </a:pPr>
          </a:p>
          <a:p>
            <a:pPr algn="l" marL="583557" indent="-291778" lvl="1">
              <a:lnSpc>
                <a:spcPts val="3243"/>
              </a:lnSpc>
              <a:buFont typeface="Arial"/>
              <a:buChar char="•"/>
            </a:pPr>
            <a:r>
              <a:rPr lang="en-US" b="true" sz="27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Machine Learning:</a:t>
            </a:r>
            <a:r>
              <a:rPr lang="en-US" sz="27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LabellMg, LabelStudio, CVAT, Jtheta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7998" cy="547688"/>
            <a:chOff x="0" y="0"/>
            <a:chExt cx="24383998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49"/>
            </a:xfrm>
            <a:custGeom>
              <a:avLst/>
              <a:gdLst/>
              <a:ahLst/>
              <a:cxnLst/>
              <a:rect r="r" b="b" t="t" l="l"/>
              <a:pathLst>
                <a:path h="73024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49"/>
                  </a:lnTo>
                  <a:lnTo>
                    <a:pt x="0" y="73024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240000" y="-971773"/>
            <a:ext cx="3112593" cy="1800670"/>
            <a:chOff x="0" y="0"/>
            <a:chExt cx="4150124" cy="2400894"/>
          </a:xfrm>
        </p:grpSpPr>
        <p:sp>
          <p:nvSpPr>
            <p:cNvPr name="Freeform 11" id="11" descr="SRM Institute of Science and Technology"/>
            <p:cNvSpPr/>
            <p:nvPr/>
          </p:nvSpPr>
          <p:spPr>
            <a:xfrm flipH="false" flipV="false" rot="0">
              <a:off x="0" y="0"/>
              <a:ext cx="4150106" cy="2400935"/>
            </a:xfrm>
            <a:custGeom>
              <a:avLst/>
              <a:gdLst/>
              <a:ahLst/>
              <a:cxnLst/>
              <a:rect r="r" b="b" t="t" l="l"/>
              <a:pathLst>
                <a:path h="2400935" w="4150106">
                  <a:moveTo>
                    <a:pt x="0" y="0"/>
                  </a:moveTo>
                  <a:lnTo>
                    <a:pt x="4150106" y="0"/>
                  </a:lnTo>
                  <a:lnTo>
                    <a:pt x="4150106" y="2400935"/>
                  </a:lnTo>
                  <a:lnTo>
                    <a:pt x="0" y="24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2854"/>
              </a:stretch>
            </a:blipFill>
          </p:spPr>
        </p:sp>
      </p:grpSp>
      <p:graphicFrame>
        <p:nvGraphicFramePr>
          <p:cNvPr name="Object 12" id="12"/>
          <p:cNvGraphicFramePr/>
          <p:nvPr/>
        </p:nvGraphicFramePr>
        <p:xfrm>
          <a:off x="934484" y="1412841"/>
          <a:ext cx="5657850" cy="4400550"/>
        </p:xfrm>
        <a:graphic>
          <a:graphicData uri="http://schemas.openxmlformats.org/presentationml/2006/ole">
            <p:oleObj imgW="6781800" imgH="5524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3" id="13"/>
          <p:cNvSpPr/>
          <p:nvPr/>
        </p:nvSpPr>
        <p:spPr>
          <a:xfrm flipH="false" flipV="false" rot="0">
            <a:off x="0" y="16644"/>
            <a:ext cx="1277431" cy="1277431"/>
          </a:xfrm>
          <a:custGeom>
            <a:avLst/>
            <a:gdLst/>
            <a:ahLst/>
            <a:cxnLst/>
            <a:rect r="r" b="b" t="t" l="l"/>
            <a:pathLst>
              <a:path h="1277431" w="1277431">
                <a:moveTo>
                  <a:pt x="0" y="0"/>
                </a:moveTo>
                <a:lnTo>
                  <a:pt x="1277431" y="0"/>
                </a:lnTo>
                <a:lnTo>
                  <a:pt x="1277431" y="1277431"/>
                </a:lnTo>
                <a:lnTo>
                  <a:pt x="0" y="12774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7998" cy="547688"/>
            <a:chOff x="0" y="0"/>
            <a:chExt cx="24383998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49"/>
            </a:xfrm>
            <a:custGeom>
              <a:avLst/>
              <a:gdLst/>
              <a:ahLst/>
              <a:cxnLst/>
              <a:rect r="r" b="b" t="t" l="l"/>
              <a:pathLst>
                <a:path h="73024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49"/>
                  </a:lnTo>
                  <a:lnTo>
                    <a:pt x="0" y="73024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465399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277096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175406" y="-900335"/>
            <a:ext cx="3112593" cy="1800670"/>
            <a:chOff x="0" y="0"/>
            <a:chExt cx="4150124" cy="2400894"/>
          </a:xfrm>
        </p:grpSpPr>
        <p:sp>
          <p:nvSpPr>
            <p:cNvPr name="Freeform 11" id="11" descr="SRM Institute of Science and Technology"/>
            <p:cNvSpPr/>
            <p:nvPr/>
          </p:nvSpPr>
          <p:spPr>
            <a:xfrm flipH="false" flipV="false" rot="0">
              <a:off x="0" y="0"/>
              <a:ext cx="4150106" cy="2400935"/>
            </a:xfrm>
            <a:custGeom>
              <a:avLst/>
              <a:gdLst/>
              <a:ahLst/>
              <a:cxnLst/>
              <a:rect r="r" b="b" t="t" l="l"/>
              <a:pathLst>
                <a:path h="2400935" w="4150106">
                  <a:moveTo>
                    <a:pt x="0" y="0"/>
                  </a:moveTo>
                  <a:lnTo>
                    <a:pt x="4150106" y="0"/>
                  </a:lnTo>
                  <a:lnTo>
                    <a:pt x="4150106" y="2400935"/>
                  </a:lnTo>
                  <a:lnTo>
                    <a:pt x="0" y="24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285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143999" y="1249101"/>
            <a:ext cx="3356782" cy="4794617"/>
          </a:xfrm>
          <a:custGeom>
            <a:avLst/>
            <a:gdLst/>
            <a:ahLst/>
            <a:cxnLst/>
            <a:rect r="r" b="b" t="t" l="l"/>
            <a:pathLst>
              <a:path h="4794617" w="3356782">
                <a:moveTo>
                  <a:pt x="0" y="0"/>
                </a:moveTo>
                <a:lnTo>
                  <a:pt x="3356783" y="0"/>
                </a:lnTo>
                <a:lnTo>
                  <a:pt x="3356783" y="4794617"/>
                </a:lnTo>
                <a:lnTo>
                  <a:pt x="0" y="4794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88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55849" y="1300511"/>
            <a:ext cx="4157909" cy="4743207"/>
          </a:xfrm>
          <a:custGeom>
            <a:avLst/>
            <a:gdLst/>
            <a:ahLst/>
            <a:cxnLst/>
            <a:rect r="r" b="b" t="t" l="l"/>
            <a:pathLst>
              <a:path h="4743207" w="4157909">
                <a:moveTo>
                  <a:pt x="0" y="0"/>
                </a:moveTo>
                <a:lnTo>
                  <a:pt x="4157909" y="0"/>
                </a:lnTo>
                <a:lnTo>
                  <a:pt x="4157909" y="4743207"/>
                </a:lnTo>
                <a:lnTo>
                  <a:pt x="0" y="4743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5" t="0" r="-835" b="0"/>
            </a:stretch>
          </a:blipFill>
        </p:spPr>
      </p:sp>
      <p:graphicFrame>
        <p:nvGraphicFramePr>
          <p:cNvPr name="Object 14" id="14"/>
          <p:cNvGraphicFramePr/>
          <p:nvPr/>
        </p:nvGraphicFramePr>
        <p:xfrm>
          <a:off x="594777" y="1381346"/>
          <a:ext cx="1885950" cy="3771900"/>
        </p:xfrm>
        <a:graphic>
          <a:graphicData uri="http://schemas.openxmlformats.org/presentationml/2006/ole">
            <p:oleObj imgW="2628900" imgH="452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5" id="15"/>
          <p:cNvGraphicFramePr/>
          <p:nvPr/>
        </p:nvGraphicFramePr>
        <p:xfrm>
          <a:off x="594777" y="5357684"/>
          <a:ext cx="1885950" cy="3771900"/>
        </p:xfrm>
        <a:graphic>
          <a:graphicData uri="http://schemas.openxmlformats.org/presentationml/2006/ole">
            <p:oleObj imgW="2628900" imgH="4521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0">
            <a:off x="8962025" y="6216343"/>
            <a:ext cx="8297275" cy="3389491"/>
          </a:xfrm>
          <a:custGeom>
            <a:avLst/>
            <a:gdLst/>
            <a:ahLst/>
            <a:cxnLst/>
            <a:rect r="r" b="b" t="t" l="l"/>
            <a:pathLst>
              <a:path h="3389491" w="8297275">
                <a:moveTo>
                  <a:pt x="0" y="0"/>
                </a:moveTo>
                <a:lnTo>
                  <a:pt x="8297275" y="0"/>
                </a:lnTo>
                <a:lnTo>
                  <a:pt x="8297275" y="3389491"/>
                </a:lnTo>
                <a:lnTo>
                  <a:pt x="0" y="3389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4717" r="0" b="-14717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-38516"/>
            <a:ext cx="1587922" cy="1339028"/>
          </a:xfrm>
          <a:custGeom>
            <a:avLst/>
            <a:gdLst/>
            <a:ahLst/>
            <a:cxnLst/>
            <a:rect r="r" b="b" t="t" l="l"/>
            <a:pathLst>
              <a:path h="1339028" w="1587922">
                <a:moveTo>
                  <a:pt x="0" y="0"/>
                </a:moveTo>
                <a:lnTo>
                  <a:pt x="1587922" y="0"/>
                </a:lnTo>
                <a:lnTo>
                  <a:pt x="1587922" y="1339027"/>
                </a:lnTo>
                <a:lnTo>
                  <a:pt x="0" y="13390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9293" r="0" b="-929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43520"/>
            <a:ext cx="18287998" cy="543480"/>
            <a:chOff x="0" y="0"/>
            <a:chExt cx="24383998" cy="7246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24639"/>
            </a:xfrm>
            <a:custGeom>
              <a:avLst/>
              <a:gdLst/>
              <a:ahLst/>
              <a:cxnLst/>
              <a:rect r="r" b="b" t="t" l="l"/>
              <a:pathLst>
                <a:path h="72463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24639"/>
                  </a:lnTo>
                  <a:lnTo>
                    <a:pt x="0" y="724639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877175"/>
            <a:ext cx="8212832" cy="1154929"/>
            <a:chOff x="0" y="0"/>
            <a:chExt cx="16256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5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62560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739312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5240000" y="-971773"/>
            <a:ext cx="3112593" cy="1800670"/>
            <a:chOff x="0" y="0"/>
            <a:chExt cx="4150124" cy="2400894"/>
          </a:xfrm>
        </p:grpSpPr>
        <p:sp>
          <p:nvSpPr>
            <p:cNvPr name="Freeform 11" id="11" descr="SRM Institute of Science and Technology"/>
            <p:cNvSpPr/>
            <p:nvPr/>
          </p:nvSpPr>
          <p:spPr>
            <a:xfrm flipH="false" flipV="false" rot="0">
              <a:off x="0" y="0"/>
              <a:ext cx="4150106" cy="2400935"/>
            </a:xfrm>
            <a:custGeom>
              <a:avLst/>
              <a:gdLst/>
              <a:ahLst/>
              <a:cxnLst/>
              <a:rect r="r" b="b" t="t" l="l"/>
              <a:pathLst>
                <a:path h="2400935" w="4150106">
                  <a:moveTo>
                    <a:pt x="0" y="0"/>
                  </a:moveTo>
                  <a:lnTo>
                    <a:pt x="4150106" y="0"/>
                  </a:lnTo>
                  <a:lnTo>
                    <a:pt x="4150106" y="2400935"/>
                  </a:lnTo>
                  <a:lnTo>
                    <a:pt x="0" y="24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285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-71438"/>
            <a:ext cx="1202374" cy="1202374"/>
          </a:xfrm>
          <a:custGeom>
            <a:avLst/>
            <a:gdLst/>
            <a:ahLst/>
            <a:cxnLst/>
            <a:rect r="r" b="b" t="t" l="l"/>
            <a:pathLst>
              <a:path h="1202374" w="1202374">
                <a:moveTo>
                  <a:pt x="0" y="0"/>
                </a:moveTo>
                <a:lnTo>
                  <a:pt x="1202374" y="0"/>
                </a:lnTo>
                <a:lnTo>
                  <a:pt x="1202374" y="1202374"/>
                </a:lnTo>
                <a:lnTo>
                  <a:pt x="0" y="1202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999984" y="828898"/>
            <a:ext cx="8212832" cy="1154929"/>
            <a:chOff x="0" y="0"/>
            <a:chExt cx="162560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5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62560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b="true" sz="38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PROTOTYPE 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662142" y="1896182"/>
            <a:ext cx="7134155" cy="2981208"/>
          </a:xfrm>
          <a:custGeom>
            <a:avLst/>
            <a:gdLst/>
            <a:ahLst/>
            <a:cxnLst/>
            <a:rect r="r" b="b" t="t" l="l"/>
            <a:pathLst>
              <a:path h="2981208" w="7134155">
                <a:moveTo>
                  <a:pt x="0" y="0"/>
                </a:moveTo>
                <a:lnTo>
                  <a:pt x="7134154" y="0"/>
                </a:lnTo>
                <a:lnTo>
                  <a:pt x="7134154" y="2981208"/>
                </a:lnTo>
                <a:lnTo>
                  <a:pt x="0" y="2981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0391" r="0" b="-2495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62142" y="4925015"/>
            <a:ext cx="7134155" cy="3942760"/>
          </a:xfrm>
          <a:custGeom>
            <a:avLst/>
            <a:gdLst/>
            <a:ahLst/>
            <a:cxnLst/>
            <a:rect r="r" b="b" t="t" l="l"/>
            <a:pathLst>
              <a:path h="3942760" w="7134155">
                <a:moveTo>
                  <a:pt x="0" y="0"/>
                </a:moveTo>
                <a:lnTo>
                  <a:pt x="7134154" y="0"/>
                </a:lnTo>
                <a:lnTo>
                  <a:pt x="7134154" y="3942760"/>
                </a:lnTo>
                <a:lnTo>
                  <a:pt x="0" y="3942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824" r="0" b="-263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378581" y="3746387"/>
            <a:ext cx="911202" cy="550035"/>
          </a:xfrm>
          <a:custGeom>
            <a:avLst/>
            <a:gdLst/>
            <a:ahLst/>
            <a:cxnLst/>
            <a:rect r="r" b="b" t="t" l="l"/>
            <a:pathLst>
              <a:path h="550035" w="911202">
                <a:moveTo>
                  <a:pt x="0" y="0"/>
                </a:moveTo>
                <a:lnTo>
                  <a:pt x="911202" y="0"/>
                </a:lnTo>
                <a:lnTo>
                  <a:pt x="911202" y="550034"/>
                </a:lnTo>
                <a:lnTo>
                  <a:pt x="0" y="5500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6465" y="2145824"/>
            <a:ext cx="8461558" cy="687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7"/>
              </a:lnSpc>
            </a:pPr>
          </a:p>
          <a:p>
            <a:pPr algn="just">
              <a:lnSpc>
                <a:spcPts val="3407"/>
              </a:lnSpc>
            </a:pPr>
          </a:p>
          <a:p>
            <a:pPr algn="just" marL="613003" indent="-306501" lvl="1">
              <a:lnSpc>
                <a:spcPts val="3407"/>
              </a:lnSpc>
              <a:buFont typeface="Arial"/>
              <a:buChar char="•"/>
            </a:pPr>
            <a:r>
              <a:rPr lang="en-US" sz="283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 tooltip="http://www.agritech.tnau.ac.in/expert_system/cattlebuffalo/Breeds%20of%20cattle%20&amp;%20baffalo.html"/>
              </a:rPr>
              <a:t>http://www.agritech.tnau.ac.in/expert_system/cattlebuffalo/Breeds%20of%20cattle%20&amp;%20baffalo.html</a:t>
            </a:r>
          </a:p>
          <a:p>
            <a:pPr algn="just">
              <a:lnSpc>
                <a:spcPts val="3407"/>
              </a:lnSpc>
            </a:pPr>
          </a:p>
          <a:p>
            <a:pPr algn="just" marL="613003" indent="-306501" lvl="1">
              <a:lnSpc>
                <a:spcPts val="3407"/>
              </a:lnSpc>
              <a:buFont typeface="Arial"/>
              <a:buChar char="•"/>
            </a:pPr>
            <a:r>
              <a:rPr lang="en-US" sz="283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 tooltip="https://hisar.gov.in/cirb/"/>
              </a:rPr>
              <a:t>https://hisar.gov.in/cirb/ </a:t>
            </a:r>
          </a:p>
          <a:p>
            <a:pPr algn="just">
              <a:lnSpc>
                <a:spcPts val="3407"/>
              </a:lnSpc>
            </a:pPr>
          </a:p>
          <a:p>
            <a:pPr algn="just" marL="613003" indent="-306501" lvl="1">
              <a:lnSpc>
                <a:spcPts val="3407"/>
              </a:lnSpc>
              <a:buFont typeface="Arial"/>
              <a:buChar char="•"/>
            </a:pPr>
            <a:r>
              <a:rPr lang="en-US" sz="28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ICAR‑NIVEDI-PDF: </a:t>
            </a:r>
            <a:r>
              <a:rPr lang="en-US" sz="283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 tooltip="https://nivedi.res.in/Nadres_v2/pdf/covid/BUFFALO%20%26%20CATTLE%20BREEDS.pdf%E2%80%99"/>
              </a:rPr>
              <a:t>https://nivedi.res.in/Nadres_v2/pdf/covid/BUFFALO%20%26%20CATTLE%20BREEDS.pdf’</a:t>
            </a:r>
          </a:p>
          <a:p>
            <a:pPr algn="just">
              <a:lnSpc>
                <a:spcPts val="3407"/>
              </a:lnSpc>
            </a:pPr>
          </a:p>
          <a:p>
            <a:pPr algn="just" marL="613003" indent="-306501" lvl="1">
              <a:lnSpc>
                <a:spcPts val="3407"/>
              </a:lnSpc>
              <a:buFont typeface="Arial"/>
              <a:buChar char="•"/>
            </a:pPr>
            <a:r>
              <a:rPr lang="en-US" sz="2839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https://www.data.gov.in/keywords/Breed</a:t>
            </a:r>
          </a:p>
          <a:p>
            <a:pPr algn="just">
              <a:lnSpc>
                <a:spcPts val="3407"/>
              </a:lnSpc>
            </a:pPr>
          </a:p>
          <a:p>
            <a:pPr algn="just">
              <a:lnSpc>
                <a:spcPts val="3407"/>
              </a:lnSpc>
            </a:pPr>
          </a:p>
          <a:p>
            <a:pPr algn="just">
              <a:lnSpc>
                <a:spcPts val="34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396452" y="8965257"/>
            <a:ext cx="4399845" cy="29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</a:pPr>
            <a:r>
              <a:rPr lang="en-US" sz="16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**This is Not the Final Working Prototype**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DAGzz-UwQqw</dc:identifier>
  <dcterms:modified xsi:type="dcterms:W3CDTF">2011-08-01T06:04:30Z</dcterms:modified>
  <cp:revision>1</cp:revision>
  <dc:title>HACKTRIX'25_PPT_TEMPLATE.pptx</dc:title>
</cp:coreProperties>
</file>